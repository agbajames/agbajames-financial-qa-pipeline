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2513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B4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QA over 10-K filings, evaluating gpt-4.1 and gpt-4.1-mini on quality, calibration, latency and cost.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194560"/>
            <a:ext cx="2194560" cy="77724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/>
          <p:nvPr/>
        </p:nvSpPr>
        <p:spPr>
          <a:xfrm>
            <a:off x="594360" y="22677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snippet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53512" y="2583180"/>
            <a:ext cx="22402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10" name="Shape 8"/>
          <p:cNvSpPr/>
          <p:nvPr/>
        </p:nvSpPr>
        <p:spPr>
          <a:xfrm>
            <a:off x="3438144" y="2194560"/>
            <a:ext cx="2194560" cy="77724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Text 9"/>
          <p:cNvSpPr/>
          <p:nvPr/>
        </p:nvSpPr>
        <p:spPr>
          <a:xfrm>
            <a:off x="3438144" y="22677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38144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= 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97296" y="2583180"/>
            <a:ext cx="22402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14" name="Shape 12"/>
          <p:cNvSpPr/>
          <p:nvPr/>
        </p:nvSpPr>
        <p:spPr>
          <a:xfrm>
            <a:off x="6281928" y="2194560"/>
            <a:ext cx="2194560" cy="77724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Text 13"/>
          <p:cNvSpPr/>
          <p:nvPr/>
        </p:nvSpPr>
        <p:spPr>
          <a:xfrm>
            <a:off x="6281928" y="22677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1928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check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41080" y="2583180"/>
            <a:ext cx="22402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18" name="Shape 16"/>
          <p:cNvSpPr/>
          <p:nvPr/>
        </p:nvSpPr>
        <p:spPr>
          <a:xfrm>
            <a:off x="9125712" y="2194560"/>
            <a:ext cx="2194560" cy="77724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9" name="Text 17"/>
          <p:cNvSpPr/>
          <p:nvPr/>
        </p:nvSpPr>
        <p:spPr>
          <a:xfrm>
            <a:off x="9125712" y="22677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25712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– per-question flow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1148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choices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2642616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2642616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5" name="Text 23"/>
          <p:cNvSpPr/>
          <p:nvPr/>
        </p:nvSpPr>
        <p:spPr>
          <a:xfrm>
            <a:off x="685800" y="469087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Context-only QA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507492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answer strictly from the provided 10-K snippet, not parametric memory.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55848" y="4526280"/>
            <a:ext cx="2642616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8" name="Shape 26"/>
          <p:cNvSpPr/>
          <p:nvPr/>
        </p:nvSpPr>
        <p:spPr>
          <a:xfrm>
            <a:off x="3355848" y="4526280"/>
            <a:ext cx="2642616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9" name="Text 27"/>
          <p:cNvSpPr/>
          <p:nvPr/>
        </p:nvSpPr>
        <p:spPr>
          <a:xfrm>
            <a:off x="3493008" y="469087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93008" y="507492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enforcement on every response for parseable, machine-checkable predictions.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63056" y="4526280"/>
            <a:ext cx="2642616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2" name="Shape 30"/>
          <p:cNvSpPr/>
          <p:nvPr/>
        </p:nvSpPr>
        <p:spPr>
          <a:xfrm>
            <a:off x="6163056" y="4526280"/>
            <a:ext cx="2642616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3" name="Text 31"/>
          <p:cNvSpPr/>
          <p:nvPr/>
        </p:nvSpPr>
        <p:spPr>
          <a:xfrm>
            <a:off x="6300216" y="469087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abstention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0216" y="507492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instructed to abstain when context is insufficient – flagged as a separate output state.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970264" y="4526280"/>
            <a:ext cx="2642616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6" name="Shape 34"/>
          <p:cNvSpPr/>
          <p:nvPr/>
        </p:nvSpPr>
        <p:spPr>
          <a:xfrm>
            <a:off x="8970264" y="4526280"/>
            <a:ext cx="2642616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7" name="Text 35"/>
          <p:cNvSpPr/>
          <p:nvPr/>
        </p:nvSpPr>
        <p:spPr>
          <a:xfrm>
            <a:off x="9107424" y="469087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07424" y="507492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questions, seed = 42, balanced across numeric, short-text and long-text answers.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QA Pipeline  ·  PwC Senior ML Associate Take-Home  ·  James Agba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B4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metric families address different failure modes in financial QA – no single number tells the full story.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3568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3568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8" name="Text 6"/>
          <p:cNvSpPr/>
          <p:nvPr/>
        </p:nvSpPr>
        <p:spPr>
          <a:xfrm>
            <a:off x="713232" y="2167128"/>
            <a:ext cx="3206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overlap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2697480"/>
            <a:ext cx="3206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closely does the answer match the reference text?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3246120"/>
            <a:ext cx="3206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3483864"/>
            <a:ext cx="3206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string equality after normalisation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3867912"/>
            <a:ext cx="3206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4105656"/>
            <a:ext cx="3206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SQuAD-style token overlap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13232" y="4489704"/>
            <a:ext cx="3206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4727448"/>
            <a:ext cx="3206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subsequence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2920" y="2103120"/>
            <a:ext cx="353568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7" name="Shape 15"/>
          <p:cNvSpPr/>
          <p:nvPr/>
        </p:nvSpPr>
        <p:spPr>
          <a:xfrm>
            <a:off x="4312920" y="2103120"/>
            <a:ext cx="353568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Text 16"/>
          <p:cNvSpPr/>
          <p:nvPr/>
        </p:nvSpPr>
        <p:spPr>
          <a:xfrm>
            <a:off x="4477512" y="2167128"/>
            <a:ext cx="3206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correctness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77512" y="2697480"/>
            <a:ext cx="3206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figures right, regardless of phrasing?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77512" y="3246120"/>
            <a:ext cx="3206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accuracy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77512" y="3483864"/>
            <a:ext cx="3206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extraction and comparison against reference values for figure-based answers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77200" y="2103120"/>
            <a:ext cx="353568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3" name="Shape 21"/>
          <p:cNvSpPr/>
          <p:nvPr/>
        </p:nvSpPr>
        <p:spPr>
          <a:xfrm>
            <a:off x="8077200" y="2103120"/>
            <a:ext cx="353568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4" name="Text 22"/>
          <p:cNvSpPr/>
          <p:nvPr/>
        </p:nvSpPr>
        <p:spPr>
          <a:xfrm>
            <a:off x="8241792" y="2167128"/>
            <a:ext cx="3206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41792" y="2697480"/>
            <a:ext cx="3206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usable and affordable in production?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41792" y="3246120"/>
            <a:ext cx="3206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41792" y="3483864"/>
            <a:ext cx="3206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questions answered (vs abstained)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41792" y="3867912"/>
            <a:ext cx="3206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Should-have-abstained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41792" y="4105656"/>
            <a:ext cx="3206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for over-confident wrong answers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41792" y="4489704"/>
            <a:ext cx="3206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41792" y="4727448"/>
            <a:ext cx="3206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response time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41792" y="5111496"/>
            <a:ext cx="3206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41792" y="5349240"/>
            <a:ext cx="3206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$ per 1K queries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5943600"/>
            <a:ext cx="11155680" cy="502920"/>
          </a:xfrm>
          <a:prstGeom prst="rect">
            <a:avLst/>
          </a:prstGeom>
          <a:solidFill>
            <a:srgbClr val="CADCFC">
              <a:alpha val="50000"/>
            </a:srgbClr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5" name="Shape 33"/>
          <p:cNvSpPr/>
          <p:nvPr/>
        </p:nvSpPr>
        <p:spPr>
          <a:xfrm>
            <a:off x="502920" y="5943600"/>
            <a:ext cx="54864" cy="502920"/>
          </a:xfrm>
          <a:prstGeom prst="rect">
            <a:avLst/>
          </a:prstGeom>
          <a:solidFill>
            <a:srgbClr val="2B4FAA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6" name="Text 34"/>
          <p:cNvSpPr/>
          <p:nvPr/>
        </p:nvSpPr>
        <p:spPr>
          <a:xfrm>
            <a:off x="685800" y="5980176"/>
            <a:ext cx="10881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single metric.  </a:t>
            </a:r>
            <a:r>
              <a:rPr lang="en-US" sz="10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correct numeric extractions can score low on lexical overlap when references are full sentences. Numerical accuracy and the should-have-abstained rate compensate; on a 50-sample set, gaps below ~5–8 percentage points are treated as directional.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QA Pipeline  ·  PwC Senior ML Associate Take-Home  ·  James Agba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B4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gpt-4.1 vs gpt-4.1-mini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matches or exceeds gpt-4.1 on every quality metric and costs ~5× less. gpt-4.1's only advantage is latency.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749808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gpt-4.1-mini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A6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A6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Should-have-abstained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 (ms)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1K queries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F1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75320" y="1965960"/>
            <a:ext cx="3383280" cy="1371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8" name="Text 5"/>
          <p:cNvSpPr/>
          <p:nvPr/>
        </p:nvSpPr>
        <p:spPr>
          <a:xfrm>
            <a:off x="8412480" y="2057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~5×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41248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per 1K queries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7532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wins on: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75320" y="3813048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F1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accuracy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Should-have-abstained rate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75320" y="5349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wins on: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75320" y="56418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 (1,771 ms vs 2,705 ms)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QA Pipeline  ·  PwC Senior ML Associate Take-Home  ·  James Agba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2708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B4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RECOMMENDATION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gpt-4.1-mini for production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50-sample evaluation, gpt-4.1-mini is the recommended model – with caveats for production rollout.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53949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73152" cy="3108960"/>
          </a:xfrm>
          <a:prstGeom prst="rect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Rationale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– matches or exceeds on every metric measured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9443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F1 0.767 vs 0.730 · ROUGE-L 0.752 vs 0.712 · EM 29% vs 25% · Numerical accuracy 83% vs 75%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– ~5× cheaper per 1K queries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8130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$0.47 vs $2.32 at the per-1M-token rates used in this analysis.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– better-calibrated abstention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6817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Over-answers on 2% of cases vs 6% for gpt-4.1; coverage tied at 96%.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2011680"/>
            <a:ext cx="53949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Shape 14"/>
          <p:cNvSpPr/>
          <p:nvPr/>
        </p:nvSpPr>
        <p:spPr>
          <a:xfrm>
            <a:off x="6263640" y="2011680"/>
            <a:ext cx="73152" cy="3108960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7" name="Text 15"/>
          <p:cNvSpPr/>
          <p:nvPr/>
        </p:nvSpPr>
        <p:spPr>
          <a:xfrm>
            <a:off x="6537960" y="2176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Caveats for production rollout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6517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294436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numerical accuracy gap rests on only 8 numeric questions – directional, not statistically robust.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37960" y="3520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evaluation set before deployment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38130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~500 questions stratified by ticker and answer type, with a calibration check on the abstention threshold.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43891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trade-off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68172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is ~930 ms (53%) slower on average. Material if user experience is latency-sensitive – verify against the target use case.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303520"/>
            <a:ext cx="1115568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5" name="Text 23"/>
          <p:cNvSpPr/>
          <p:nvPr/>
        </p:nvSpPr>
        <p:spPr>
          <a:xfrm>
            <a:off x="685800" y="5349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gpt-4.1-mini for the financial QA pipeline. Re-evaluate on a larger stratified set before production rollout.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QA Pipeline  ·  PwC Senior ML Associate Take-Home  ·  James Agba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2708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642</Words>
  <Application>Microsoft Macintosh PowerPoint</Application>
  <PresentationFormat>Widescreen</PresentationFormat>
  <Paragraphs>122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QA Pipeline – Approach Summary</dc:title>
  <dc:subject>PptxGenJS Presentation</dc:subject>
  <dc:creator>James Akinpelu</dc:creator>
  <cp:lastModifiedBy>James Agba</cp:lastModifiedBy>
  <cp:revision>2</cp:revision>
  <dcterms:created xsi:type="dcterms:W3CDTF">2026-04-29T10:14:51Z</dcterms:created>
  <dcterms:modified xsi:type="dcterms:W3CDTF">2026-04-29T10:21:11Z</dcterms:modified>
</cp:coreProperties>
</file>